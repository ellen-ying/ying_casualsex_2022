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3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2" r:id="rId2"/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00000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6" autoAdjust="0"/>
    <p:restoredTop sz="83214" autoAdjust="0"/>
  </p:normalViewPr>
  <p:slideViewPr>
    <p:cSldViewPr snapToGrid="0">
      <p:cViewPr varScale="1">
        <p:scale>
          <a:sx n="69" d="100"/>
          <a:sy n="69" d="100"/>
        </p:scale>
        <p:origin x="96" y="6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A: Heterosexual Population</a:t>
            </a:r>
          </a:p>
        </c:rich>
      </c:tx>
      <c:layout>
        <c:manualLayout>
          <c:xMode val="edge"/>
          <c:yMode val="edge"/>
          <c:x val="0.17067282269215964"/>
          <c:y val="6.274274215919513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7758738041104241"/>
          <c:y val="0.13359369905089696"/>
          <c:w val="0.79175975526858444"/>
          <c:h val="0.682680063641890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Sheet1!$B$8:$B$11</c:f>
                <c:numCache>
                  <c:formatCode>General</c:formatCode>
                  <c:ptCount val="4"/>
                </c:numCache>
              </c:numRef>
            </c:plus>
            <c:minus>
              <c:numRef>
                <c:f>Sheet1!$B$8:$B$11</c:f>
                <c:numCache>
                  <c:formatCode>General</c:formatCode>
                  <c:ptCount val="4"/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Sheet1!$A$2:$A$5</c:f>
              <c:strCache>
                <c:ptCount val="4"/>
                <c:pt idx="0">
                  <c:v>DW/DS</c:v>
                </c:pt>
                <c:pt idx="1">
                  <c:v>DW/SS</c:v>
                </c:pt>
                <c:pt idx="2">
                  <c:v>SW/DS</c:v>
                </c:pt>
                <c:pt idx="3">
                  <c:v>SW/SS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38</c:v>
                </c:pt>
                <c:pt idx="1">
                  <c:v>28</c:v>
                </c:pt>
                <c:pt idx="2">
                  <c:v>32</c:v>
                </c:pt>
                <c:pt idx="3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F3-495C-83A3-75FD5B79F4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Females</c:v>
                </c:pt>
              </c:strCache>
            </c:strRef>
          </c:tx>
          <c:spPr>
            <a:pattFill prst="wdUpDiag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  <a:ln w="19050">
              <a:solidFill>
                <a:schemeClr val="tx1">
                  <a:lumMod val="65000"/>
                  <a:lumOff val="35000"/>
                </a:schemeClr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DW/DS</c:v>
                </c:pt>
                <c:pt idx="1">
                  <c:v>DW/SS</c:v>
                </c:pt>
                <c:pt idx="2">
                  <c:v>SW/DS</c:v>
                </c:pt>
                <c:pt idx="3">
                  <c:v>SW/SS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51</c:v>
                </c:pt>
                <c:pt idx="1">
                  <c:v>28</c:v>
                </c:pt>
                <c:pt idx="2">
                  <c:v>41</c:v>
                </c:pt>
                <c:pt idx="3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F3-495C-83A3-75FD5B79F4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1"/>
        <c:axId val="695759503"/>
        <c:axId val="695764783"/>
      </c:barChart>
      <c:catAx>
        <c:axId val="69575950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pPr>
                <a:r>
                  <a:rPr lang="en-US" sz="1800" baseline="0" dirty="0">
                    <a:latin typeface="Times New Roman" panose="02020603050405020304" pitchFamily="18" charset="0"/>
                  </a:rPr>
                  <a:t>Condition</a:t>
                </a:r>
              </a:p>
            </c:rich>
          </c:tx>
          <c:layout>
            <c:manualLayout>
              <c:xMode val="edge"/>
              <c:yMode val="edge"/>
              <c:x val="0.48536122765928408"/>
              <c:y val="0.9196129612672254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22225" cap="flat" cmpd="sng" algn="ctr">
            <a:solidFill>
              <a:schemeClr val="tx1">
                <a:lumMod val="65000"/>
                <a:lumOff val="3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95764783"/>
        <c:crosses val="autoZero"/>
        <c:auto val="1"/>
        <c:lblAlgn val="ctr"/>
        <c:lblOffset val="100"/>
        <c:noMultiLvlLbl val="0"/>
      </c:catAx>
      <c:valAx>
        <c:axId val="695764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6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baseline="0" dirty="0">
                    <a:latin typeface="Times New Roman" panose="02020603050405020304" pitchFamily="18" charset="0"/>
                  </a:rPr>
                  <a:t>Percentage</a:t>
                </a:r>
              </a:p>
            </c:rich>
          </c:tx>
          <c:layout>
            <c:manualLayout>
              <c:xMode val="edge"/>
              <c:yMode val="edge"/>
              <c:x val="0"/>
              <c:y val="0.3490452851917000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957595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aseline="0" dirty="0">
                <a:latin typeface="Times New Roman" panose="02020603050405020304" pitchFamily="18" charset="0"/>
              </a:rPr>
              <a:t>B: Same-Sex Population</a:t>
            </a:r>
          </a:p>
        </c:rich>
      </c:tx>
      <c:layout>
        <c:manualLayout>
          <c:xMode val="edge"/>
          <c:yMode val="edge"/>
          <c:x val="0.23733281901469369"/>
          <c:y val="3.1371371079597565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7758738041104241"/>
          <c:y val="0.13359369905089696"/>
          <c:w val="0.79175975526858444"/>
          <c:h val="0.682680063641890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Sheet1!$B$8:$B$11</c:f>
                <c:numCache>
                  <c:formatCode>General</c:formatCode>
                  <c:ptCount val="4"/>
                </c:numCache>
              </c:numRef>
            </c:plus>
            <c:minus>
              <c:numRef>
                <c:f>Sheet1!$B$8:$B$11</c:f>
                <c:numCache>
                  <c:formatCode>General</c:formatCode>
                  <c:ptCount val="4"/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Sheet1!$A$2:$A$5</c:f>
              <c:strCache>
                <c:ptCount val="4"/>
                <c:pt idx="0">
                  <c:v>DW/DS</c:v>
                </c:pt>
                <c:pt idx="1">
                  <c:v>DW/SS</c:v>
                </c:pt>
                <c:pt idx="2">
                  <c:v>SW/DS</c:v>
                </c:pt>
                <c:pt idx="3">
                  <c:v>SW/SS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0-45E5-433C-AB79-CD64E91443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Females</c:v>
                </c:pt>
              </c:strCache>
            </c:strRef>
          </c:tx>
          <c:spPr>
            <a:pattFill prst="wdUpDiag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  <a:ln w="19050">
              <a:solidFill>
                <a:schemeClr val="tx1">
                  <a:lumMod val="65000"/>
                  <a:lumOff val="35000"/>
                </a:schemeClr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DW/DS</c:v>
                </c:pt>
                <c:pt idx="1">
                  <c:v>DW/SS</c:v>
                </c:pt>
                <c:pt idx="2">
                  <c:v>SW/DS</c:v>
                </c:pt>
                <c:pt idx="3">
                  <c:v>SW/SS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45E5-433C-AB79-CD64E91443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1"/>
        <c:axId val="695759503"/>
        <c:axId val="695764783"/>
      </c:barChart>
      <c:catAx>
        <c:axId val="69575950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Condition</a:t>
                </a:r>
              </a:p>
            </c:rich>
          </c:tx>
          <c:layout>
            <c:manualLayout>
              <c:xMode val="edge"/>
              <c:yMode val="edge"/>
              <c:x val="0.48536122765928408"/>
              <c:y val="0.9196129612672254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22225" cap="flat" cmpd="sng" algn="ctr">
            <a:solidFill>
              <a:schemeClr val="tx1">
                <a:lumMod val="65000"/>
                <a:lumOff val="3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95764783"/>
        <c:crosses val="autoZero"/>
        <c:auto val="1"/>
        <c:lblAlgn val="ctr"/>
        <c:lblOffset val="100"/>
        <c:noMultiLvlLbl val="0"/>
      </c:catAx>
      <c:valAx>
        <c:axId val="695764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65000"/>
                </a:schemeClr>
              </a:solidFill>
              <a:round/>
            </a:ln>
            <a:effectLst/>
          </c:spPr>
        </c:majorGridlines>
        <c:numFmt formatCode="#,##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95759503"/>
        <c:crosses val="autoZero"/>
        <c:crossBetween val="between"/>
        <c:majorUnit val="0.4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2269777680063085"/>
          <c:y val="0.13176173468366911"/>
          <c:w val="0.24873142780910354"/>
          <c:h val="0.14405609350048637"/>
        </c:manualLayout>
      </c:layout>
      <c:overlay val="0"/>
      <c:spPr>
        <a:solidFill>
          <a:schemeClr val="bg1"/>
        </a:solidFill>
        <a:ln>
          <a:solidFill>
            <a:schemeClr val="tx1">
              <a:lumMod val="65000"/>
              <a:lumOff val="35000"/>
            </a:schemeClr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A: Mating Encounters</a:t>
            </a:r>
          </a:p>
        </c:rich>
      </c:tx>
      <c:layout>
        <c:manualLayout>
          <c:xMode val="edge"/>
          <c:yMode val="edge"/>
          <c:x val="0.2571139000756118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7758738041104241"/>
          <c:y val="0.13359369905089696"/>
          <c:w val="0.79175975526858444"/>
          <c:h val="0.682680063641890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Sheet1!$B$8:$B$11</c:f>
                <c:numCache>
                  <c:formatCode>General</c:formatCode>
                  <c:ptCount val="4"/>
                </c:numCache>
              </c:numRef>
            </c:plus>
            <c:minus>
              <c:numRef>
                <c:f>Sheet1!$B$8:$B$11</c:f>
                <c:numCache>
                  <c:formatCode>General</c:formatCode>
                  <c:ptCount val="4"/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Sheet1!$A$2:$A$5</c:f>
              <c:strCache>
                <c:ptCount val="4"/>
                <c:pt idx="0">
                  <c:v>DW/DS</c:v>
                </c:pt>
                <c:pt idx="1">
                  <c:v>DW/SS</c:v>
                </c:pt>
                <c:pt idx="2">
                  <c:v>SW/DS</c:v>
                </c:pt>
                <c:pt idx="3">
                  <c:v>SW/SS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3.78</c:v>
                </c:pt>
                <c:pt idx="1">
                  <c:v>2.8</c:v>
                </c:pt>
                <c:pt idx="2">
                  <c:v>2.82</c:v>
                </c:pt>
                <c:pt idx="3">
                  <c:v>2.21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F3-495C-83A3-75FD5B79F4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Females</c:v>
                </c:pt>
              </c:strCache>
            </c:strRef>
          </c:tx>
          <c:spPr>
            <a:pattFill prst="wdUpDiag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  <a:ln w="19050">
              <a:solidFill>
                <a:schemeClr val="tx1">
                  <a:lumMod val="65000"/>
                  <a:lumOff val="35000"/>
                </a:schemeClr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DW/DS</c:v>
                </c:pt>
                <c:pt idx="1">
                  <c:v>DW/SS</c:v>
                </c:pt>
                <c:pt idx="2">
                  <c:v>SW/DS</c:v>
                </c:pt>
                <c:pt idx="3">
                  <c:v>SW/SS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2.79</c:v>
                </c:pt>
                <c:pt idx="1">
                  <c:v>2.78</c:v>
                </c:pt>
                <c:pt idx="2">
                  <c:v>2.21</c:v>
                </c:pt>
                <c:pt idx="3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F3-495C-83A3-75FD5B79F4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1"/>
        <c:axId val="695759503"/>
        <c:axId val="695764783"/>
      </c:barChart>
      <c:catAx>
        <c:axId val="69575950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pPr>
                <a:r>
                  <a:rPr lang="en-US" sz="1800" baseline="0" dirty="0">
                    <a:latin typeface="Times New Roman" panose="02020603050405020304" pitchFamily="18" charset="0"/>
                  </a:rPr>
                  <a:t>Condition</a:t>
                </a:r>
              </a:p>
            </c:rich>
          </c:tx>
          <c:layout>
            <c:manualLayout>
              <c:xMode val="edge"/>
              <c:yMode val="edge"/>
              <c:x val="0.48536122765928408"/>
              <c:y val="0.9196129612672254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22225" cap="flat" cmpd="sng" algn="ctr">
            <a:solidFill>
              <a:schemeClr val="tx1">
                <a:lumMod val="65000"/>
                <a:lumOff val="3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95764783"/>
        <c:crosses val="autoZero"/>
        <c:auto val="1"/>
        <c:lblAlgn val="ctr"/>
        <c:lblOffset val="100"/>
        <c:noMultiLvlLbl val="0"/>
      </c:catAx>
      <c:valAx>
        <c:axId val="695764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6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baseline="0" dirty="0">
                    <a:latin typeface="Times New Roman" panose="02020603050405020304" pitchFamily="18" charset="0"/>
                  </a:rPr>
                  <a:t>Number</a:t>
                </a:r>
              </a:p>
            </c:rich>
          </c:tx>
          <c:layout>
            <c:manualLayout>
              <c:xMode val="edge"/>
              <c:yMode val="edge"/>
              <c:x val="0"/>
              <c:y val="0.3898280193312593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957595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aseline="0" dirty="0">
                <a:latin typeface="Times New Roman" panose="02020603050405020304" pitchFamily="18" charset="0"/>
              </a:rPr>
              <a:t>B: Unique Mates</a:t>
            </a:r>
          </a:p>
        </c:rich>
      </c:tx>
      <c:layout>
        <c:manualLayout>
          <c:xMode val="edge"/>
          <c:yMode val="edge"/>
          <c:x val="0.3069984197428143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7758738041104241"/>
          <c:y val="0.13359369905089696"/>
          <c:w val="0.79175975526858444"/>
          <c:h val="0.682680063641890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Sheet1!$B$8:$B$11</c:f>
                <c:numCache>
                  <c:formatCode>General</c:formatCode>
                  <c:ptCount val="4"/>
                </c:numCache>
              </c:numRef>
            </c:plus>
            <c:minus>
              <c:numRef>
                <c:f>Sheet1!$B$8:$B$11</c:f>
                <c:numCache>
                  <c:formatCode>General</c:formatCode>
                  <c:ptCount val="4"/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Sheet1!$A$2:$A$5</c:f>
              <c:strCache>
                <c:ptCount val="4"/>
                <c:pt idx="0">
                  <c:v>DW/DS</c:v>
                </c:pt>
                <c:pt idx="1">
                  <c:v>DW/SS</c:v>
                </c:pt>
                <c:pt idx="2">
                  <c:v>SW/DS</c:v>
                </c:pt>
                <c:pt idx="3">
                  <c:v>SW/SS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2.12</c:v>
                </c:pt>
                <c:pt idx="1">
                  <c:v>1.57</c:v>
                </c:pt>
                <c:pt idx="2">
                  <c:v>1.76</c:v>
                </c:pt>
                <c:pt idx="3">
                  <c:v>1.39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E5-433C-AB79-CD64E91443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Females</c:v>
                </c:pt>
              </c:strCache>
            </c:strRef>
          </c:tx>
          <c:spPr>
            <a:pattFill prst="wdUpDiag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  <a:ln w="19050">
              <a:solidFill>
                <a:schemeClr val="tx1">
                  <a:lumMod val="65000"/>
                  <a:lumOff val="35000"/>
                </a:schemeClr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DW/DS</c:v>
                </c:pt>
                <c:pt idx="1">
                  <c:v>DW/SS</c:v>
                </c:pt>
                <c:pt idx="2">
                  <c:v>SW/DS</c:v>
                </c:pt>
                <c:pt idx="3">
                  <c:v>SW/SS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1.56</c:v>
                </c:pt>
                <c:pt idx="1">
                  <c:v>1.56</c:v>
                </c:pt>
                <c:pt idx="2">
                  <c:v>1.38</c:v>
                </c:pt>
                <c:pt idx="3">
                  <c:v>1.39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E5-433C-AB79-CD64E91443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1"/>
        <c:axId val="695759503"/>
        <c:axId val="695764783"/>
      </c:barChart>
      <c:catAx>
        <c:axId val="69575950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Condition</a:t>
                </a:r>
              </a:p>
            </c:rich>
          </c:tx>
          <c:layout>
            <c:manualLayout>
              <c:xMode val="edge"/>
              <c:yMode val="edge"/>
              <c:x val="0.48536122765928408"/>
              <c:y val="0.9196129612672254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22225" cap="flat" cmpd="sng" algn="ctr">
            <a:solidFill>
              <a:schemeClr val="tx1">
                <a:lumMod val="65000"/>
                <a:lumOff val="3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95764783"/>
        <c:crosses val="autoZero"/>
        <c:auto val="1"/>
        <c:lblAlgn val="ctr"/>
        <c:lblOffset val="100"/>
        <c:noMultiLvlLbl val="0"/>
      </c:catAx>
      <c:valAx>
        <c:axId val="695764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65000"/>
                </a:schemeClr>
              </a:solidFill>
              <a:round/>
            </a:ln>
            <a:effectLst/>
          </c:spPr>
        </c:majorGridlines>
        <c:numFmt formatCode="#,##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957595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2269777680063085"/>
          <c:y val="0.13176173468366911"/>
          <c:w val="0.24873142780910354"/>
          <c:h val="0.14405609350048637"/>
        </c:manualLayout>
      </c:layout>
      <c:overlay val="0"/>
      <c:spPr>
        <a:solidFill>
          <a:schemeClr val="bg1"/>
        </a:solidFill>
        <a:ln>
          <a:solidFill>
            <a:schemeClr val="tx1">
              <a:lumMod val="65000"/>
              <a:lumOff val="35000"/>
            </a:schemeClr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A: Mating Encounters</a:t>
            </a:r>
          </a:p>
        </c:rich>
      </c:tx>
      <c:layout>
        <c:manualLayout>
          <c:xMode val="edge"/>
          <c:yMode val="edge"/>
          <c:x val="0.2571139000756118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7758738041104241"/>
          <c:y val="0.13359369905089696"/>
          <c:w val="0.79175975526858444"/>
          <c:h val="0.682680063641890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Sheet1!$B$8:$B$11</c:f>
                <c:numCache>
                  <c:formatCode>General</c:formatCode>
                  <c:ptCount val="4"/>
                </c:numCache>
              </c:numRef>
            </c:plus>
            <c:minus>
              <c:numRef>
                <c:f>Sheet1!$B$8:$B$11</c:f>
                <c:numCache>
                  <c:formatCode>General</c:formatCode>
                  <c:ptCount val="4"/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Sheet1!$A$2:$A$5</c:f>
              <c:strCache>
                <c:ptCount val="4"/>
                <c:pt idx="0">
                  <c:v>DW/DS</c:v>
                </c:pt>
                <c:pt idx="1">
                  <c:v>DW/SS</c:v>
                </c:pt>
                <c:pt idx="2">
                  <c:v>SW/DS</c:v>
                </c:pt>
                <c:pt idx="3">
                  <c:v>SW/SS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2.63</c:v>
                </c:pt>
                <c:pt idx="1">
                  <c:v>0.8</c:v>
                </c:pt>
                <c:pt idx="2">
                  <c:v>1.05</c:v>
                </c:pt>
                <c:pt idx="3">
                  <c:v>0.32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F3-495C-83A3-75FD5B79F4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Females</c:v>
                </c:pt>
              </c:strCache>
            </c:strRef>
          </c:tx>
          <c:spPr>
            <a:pattFill prst="wdUpDiag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  <a:ln w="19050">
              <a:solidFill>
                <a:schemeClr val="tx1">
                  <a:lumMod val="65000"/>
                  <a:lumOff val="35000"/>
                </a:schemeClr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DW/DS</c:v>
                </c:pt>
                <c:pt idx="1">
                  <c:v>DW/SS</c:v>
                </c:pt>
                <c:pt idx="2">
                  <c:v>SW/DS</c:v>
                </c:pt>
                <c:pt idx="3">
                  <c:v>SW/SS</c:v>
                </c:pt>
              </c:strCache>
            </c:strRef>
          </c:cat>
          <c:val>
            <c:numRef>
              <c:f>Sheet1!$C$2:$C$5</c:f>
              <c:numCache>
                <c:formatCode>0.00</c:formatCode>
                <c:ptCount val="4"/>
                <c:pt idx="0">
                  <c:v>0.32</c:v>
                </c:pt>
                <c:pt idx="1">
                  <c:v>0.32</c:v>
                </c:pt>
                <c:pt idx="2">
                  <c:v>0.32</c:v>
                </c:pt>
                <c:pt idx="3">
                  <c:v>0.32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F3-495C-83A3-75FD5B79F4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1"/>
        <c:axId val="695759503"/>
        <c:axId val="695764783"/>
      </c:barChart>
      <c:catAx>
        <c:axId val="69575950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pPr>
                <a:r>
                  <a:rPr lang="en-US" sz="1800" baseline="0" dirty="0">
                    <a:latin typeface="Times New Roman" panose="02020603050405020304" pitchFamily="18" charset="0"/>
                  </a:rPr>
                  <a:t>Condition</a:t>
                </a:r>
              </a:p>
            </c:rich>
          </c:tx>
          <c:layout>
            <c:manualLayout>
              <c:xMode val="edge"/>
              <c:yMode val="edge"/>
              <c:x val="0.48536122765928408"/>
              <c:y val="0.9196129612672254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22225" cap="flat" cmpd="sng" algn="ctr">
            <a:solidFill>
              <a:schemeClr val="tx1">
                <a:lumMod val="65000"/>
                <a:lumOff val="3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95764783"/>
        <c:crosses val="autoZero"/>
        <c:auto val="1"/>
        <c:lblAlgn val="ctr"/>
        <c:lblOffset val="100"/>
        <c:noMultiLvlLbl val="0"/>
      </c:catAx>
      <c:valAx>
        <c:axId val="695764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6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baseline="0" dirty="0">
                    <a:latin typeface="Times New Roman" panose="02020603050405020304" pitchFamily="18" charset="0"/>
                  </a:rPr>
                  <a:t>Number</a:t>
                </a:r>
              </a:p>
            </c:rich>
          </c:tx>
          <c:layout>
            <c:manualLayout>
              <c:xMode val="edge"/>
              <c:yMode val="edge"/>
              <c:x val="0"/>
              <c:y val="0.3898280193312593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957595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aseline="0" dirty="0">
                <a:latin typeface="Times New Roman" panose="02020603050405020304" pitchFamily="18" charset="0"/>
              </a:rPr>
              <a:t>B: Unique Mates</a:t>
            </a:r>
          </a:p>
        </c:rich>
      </c:tx>
      <c:layout>
        <c:manualLayout>
          <c:xMode val="edge"/>
          <c:yMode val="edge"/>
          <c:x val="0.3069984197428143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7758738041104241"/>
          <c:y val="0.13359369905089696"/>
          <c:w val="0.79175975526858444"/>
          <c:h val="0.682680063641890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Sheet1!$B$8:$B$11</c:f>
                <c:numCache>
                  <c:formatCode>General</c:formatCode>
                  <c:ptCount val="4"/>
                </c:numCache>
              </c:numRef>
            </c:plus>
            <c:minus>
              <c:numRef>
                <c:f>Sheet1!$B$8:$B$11</c:f>
                <c:numCache>
                  <c:formatCode>General</c:formatCode>
                  <c:ptCount val="4"/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Sheet1!$A$2:$A$5</c:f>
              <c:strCache>
                <c:ptCount val="4"/>
                <c:pt idx="0">
                  <c:v>DW/DS</c:v>
                </c:pt>
                <c:pt idx="1">
                  <c:v>DW/SS</c:v>
                </c:pt>
                <c:pt idx="2">
                  <c:v>SW/DS</c:v>
                </c:pt>
                <c:pt idx="3">
                  <c:v>SW/SS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1.72</c:v>
                </c:pt>
                <c:pt idx="1">
                  <c:v>0.52</c:v>
                </c:pt>
                <c:pt idx="2">
                  <c:v>0.82</c:v>
                </c:pt>
                <c:pt idx="3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E5-433C-AB79-CD64E91443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Females</c:v>
                </c:pt>
              </c:strCache>
            </c:strRef>
          </c:tx>
          <c:spPr>
            <a:pattFill prst="wdUpDiag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  <a:ln w="19050">
              <a:solidFill>
                <a:schemeClr val="tx1">
                  <a:lumMod val="65000"/>
                  <a:lumOff val="35000"/>
                </a:schemeClr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DW/DS</c:v>
                </c:pt>
                <c:pt idx="1">
                  <c:v>DW/SS</c:v>
                </c:pt>
                <c:pt idx="2">
                  <c:v>SW/DS</c:v>
                </c:pt>
                <c:pt idx="3">
                  <c:v>SW/SS</c:v>
                </c:pt>
              </c:strCache>
            </c:strRef>
          </c:cat>
          <c:val>
            <c:numRef>
              <c:f>Sheet1!$C$2:$C$5</c:f>
              <c:numCache>
                <c:formatCode>0.00</c:formatCode>
                <c:ptCount val="4"/>
                <c:pt idx="0">
                  <c:v>0.25</c:v>
                </c:pt>
                <c:pt idx="1">
                  <c:v>0.25</c:v>
                </c:pt>
                <c:pt idx="2">
                  <c:v>0.25</c:v>
                </c:pt>
                <c:pt idx="3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E5-433C-AB79-CD64E91443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1"/>
        <c:axId val="695759503"/>
        <c:axId val="695764783"/>
      </c:barChart>
      <c:catAx>
        <c:axId val="69575950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Condition</a:t>
                </a:r>
              </a:p>
            </c:rich>
          </c:tx>
          <c:layout>
            <c:manualLayout>
              <c:xMode val="edge"/>
              <c:yMode val="edge"/>
              <c:x val="0.48536122765928408"/>
              <c:y val="0.9196129612672254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22225" cap="flat" cmpd="sng" algn="ctr">
            <a:solidFill>
              <a:schemeClr val="tx1">
                <a:lumMod val="65000"/>
                <a:lumOff val="3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95764783"/>
        <c:crosses val="autoZero"/>
        <c:auto val="1"/>
        <c:lblAlgn val="ctr"/>
        <c:lblOffset val="100"/>
        <c:noMultiLvlLbl val="0"/>
      </c:catAx>
      <c:valAx>
        <c:axId val="695764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65000"/>
                </a:schemeClr>
              </a:solidFill>
              <a:round/>
            </a:ln>
            <a:effectLst/>
          </c:spPr>
        </c:majorGridlines>
        <c:numFmt formatCode="#,##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95759503"/>
        <c:crosses val="autoZero"/>
        <c:crossBetween val="between"/>
        <c:majorUnit val="0.4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2269777680063085"/>
          <c:y val="0.13176173468366911"/>
          <c:w val="0.24873142780910354"/>
          <c:h val="0.14405609350048637"/>
        </c:manualLayout>
      </c:layout>
      <c:overlay val="0"/>
      <c:spPr>
        <a:solidFill>
          <a:schemeClr val="bg1"/>
        </a:solidFill>
        <a:ln>
          <a:solidFill>
            <a:schemeClr val="tx1">
              <a:lumMod val="65000"/>
              <a:lumOff val="35000"/>
            </a:schemeClr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91FAD1-4054-4528-B504-18994588469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14ABAB-DA96-4AB5-A9E1-8F78C4A73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056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3E08C-9B09-C010-1F19-73B60845C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2C1FF5-60C9-8FB2-744D-E1A35E60A5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52047C-7340-939A-1F8F-B414B40280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1.  Average percentage of males and female with at least one short-term mating encounters in the heterosexual (Panel A) and same-sex (Panel B) populations.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Note: Note: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Conditions are as follows:  DW/DS = different willingness and different desirability standard, DW/SS = Different willingness but same desirability standard, SW/DS = same willingness but different desirability standard, and SW/SS= same willingness and same desirability standard.  Standard errors not represented in these figures, but in all cases are ≤ .001 in Panel A, and ≤ ??? in Panel B.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868D6-E5D0-97DB-31F0-1DFACD8156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14ABAB-DA96-4AB5-A9E1-8F78C4A734B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963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97E06-7386-D03E-D25D-E42EF1A9A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5CC240-83D3-698E-9DB7-43CD6F445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1762C3-31FF-B1D5-5444-6823D1521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2:  </a:t>
            </a:r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Average number of short-term mating encounters (Panel A) and unique short-term mating partners (Pamel B) for those in </a:t>
            </a:r>
            <a:r>
              <a:rPr lang="en-US" dirty="0"/>
              <a:t> the heterosexual mating pool.</a:t>
            </a:r>
          </a:p>
          <a:p>
            <a:endParaRPr lang="en-US" dirty="0"/>
          </a:p>
          <a:p>
            <a:r>
              <a:rPr lang="en-US" dirty="0"/>
              <a:t>Note: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mating pool is defined as all agents with &gt; 0 mating encounters after 1,000 Ticks.  Conditions are as follows:  DW/DS = different willingness and different desirability standard, DW/SS = Different willingness but same desirability standard, SW/DS = same willingness but different desirability standard, and SW/SS= same willingness and same desirability standard.  Standard errors not represented in the figures, but in all cases are ≤ .01 in Panel A, and ≤ .005 in Panel B.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B1DA2-44CF-1741-A654-C6879FC50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14ABAB-DA96-4AB5-A9E1-8F78C4A734B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692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EE35F-734F-D7CD-C4E3-42DD87923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853BDB-8A0E-1EF7-E61A-1C819769B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1E81E5-05E2-A7DB-5F90-C899942D7C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3. Average number of short-term mating encounters (Panel A) and unique short-term mating partners (Pamel B) for those in the same-sex mating pool 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Note: Note: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mating pool is defined as all agents with &gt; 0 mating encounters after 1,000 Ticks.  Conditions are as follows:  DW/DS = different willingness and different desirability standard, DW/SS = Different willingness but same desirability standard, SW/DS = same willingness but different desirability standard, and SW/SS= same willingness and same desirability standard.  Standard errors not represented in these figures, but in all cases are ≤ .008 in Panel A, and ≤ .004 in Panel B.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73922-4D12-C89A-BFDC-6732D0F124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14ABAB-DA96-4AB5-A9E1-8F78C4A734B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911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BFA0E-A6DE-7F37-53D5-09FBF21054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995635-6BCF-A157-27BC-C4F90C107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6D1AC-A057-5F0B-8BEF-2C17D938A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714C-C93A-4C8D-9EEE-2F80E75753E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65A1C-B2E8-A32D-F935-964FBBEDA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53799-6925-ABA1-97F2-A213E7F90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F6E36-CD20-484C-9F74-64239218F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770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3D7D2-4934-93EB-A598-68E566317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DF21F-76AA-1ACE-758F-591D346A0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63EAD-F5FD-599A-7180-B8CEFC74C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714C-C93A-4C8D-9EEE-2F80E75753E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7EC9A-E969-5B9C-A8AE-485DAA926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77869-03FF-D34A-FD5C-B23F8F508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F6E36-CD20-484C-9F74-64239218F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641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18ABD-8F78-8FCA-4EE9-6918F2E3D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1C7AB8-40A9-B0D6-BBAD-0F96C4EA6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973A6-1772-B138-5986-8088FC598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714C-C93A-4C8D-9EEE-2F80E75753E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01E48-1B0D-BD94-FDC6-516756651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98238-017C-7606-6B8E-40A9E8463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F6E36-CD20-484C-9F74-64239218F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803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7CCFB-8A3C-40F5-C016-06293758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D7DE6-38DD-4335-F4F0-564AD35ECF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C92A9-FA2D-806B-3080-47B640E783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8D0C5-8F5C-4313-5B7E-897A5271C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714C-C93A-4C8D-9EEE-2F80E75753E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FF2208-1B5B-9020-3002-56A7D8843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D4B32-EAF7-B830-4FDD-9760C110A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F6E36-CD20-484C-9F74-64239218F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224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23C67-069B-AEC6-BC60-890B5235A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AD138-DF7C-778A-6E33-F0A0CB1FC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F8326D-C95D-DBA3-4F58-A2F2619F3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83814B-36C3-13EC-C1B9-B9A2E44E39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0B5DE3-9176-2117-046A-A51C99ECE7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718E1F-3E95-655D-D6AB-4B4B8C673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714C-C93A-4C8D-9EEE-2F80E75753E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EA92DA-F3AA-E8F3-4B2C-763FF0EA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9A7C91-D875-3AA8-AB3B-40F5FCA23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F6E36-CD20-484C-9F74-64239218F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33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BB486-D6AD-CC69-DF7E-EA0BEC4C0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5E75B6-7F4A-6C35-C398-4C2B78EFB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714C-C93A-4C8D-9EEE-2F80E75753E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1DC936-783C-9097-3E1E-CBA0FB1E8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134C3F-1F79-7F79-CF78-282BD229D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F6E36-CD20-484C-9F74-64239218F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482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8237C1-F53C-AAAC-0AE1-959045018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714C-C93A-4C8D-9EEE-2F80E75753E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E90509-9E53-69FA-539E-B94009E0B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DE4058-76A7-EA95-56E6-B3A345753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F6E36-CD20-484C-9F74-64239218F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236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F4020-C7C6-CBB0-B819-290DCD225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0FF16-D0AB-7CB1-A2E0-551D4F435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128C99-8BCB-A3EB-D055-952866C631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E3E07-8121-FA29-BAC1-63C900D6A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714C-C93A-4C8D-9EEE-2F80E75753E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F46621-E0C0-85B8-2860-F9728526D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D92B3-ECEF-7759-427C-EF9130A2E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F6E36-CD20-484C-9F74-64239218F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199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CBB26-AD16-9FD4-E251-18A0D3574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EE1FA1-32BB-3006-E1B4-79B93E4C3E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EAF571-F849-B794-2991-F82AB2794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193BDC-35C2-70FB-D408-942F7CA4B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714C-C93A-4C8D-9EEE-2F80E75753E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65B72D-08A3-472E-529D-22791BA07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47314-FEE8-0910-85AA-4B2B8DB48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F6E36-CD20-484C-9F74-64239218F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990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2EEB6-BEE8-BE01-D355-99A4024AB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F4C06D-24EA-B28B-C023-13DC5ED33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63ECD-106F-6483-8CBD-590ED6FE6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714C-C93A-4C8D-9EEE-2F80E75753E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2AD04-134B-2D59-D209-0BDE5D5BD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1CF12-E231-C5CA-6D5B-0B74D0038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F6E36-CD20-484C-9F74-64239218F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816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2B1E22-F0A8-8A56-CAE0-9EC5B3C692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C63158-69C8-87F5-D2D0-06D5B5F06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A7A4B-E812-BA7A-92C0-D8BB2D2CA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714C-C93A-4C8D-9EEE-2F80E75753E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A995A-8344-93C1-22DC-B4269E3E4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0B97F-75E4-7488-7181-BAD06376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F6E36-CD20-484C-9F74-64239218F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317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38DA6D-082A-BF12-074F-532DA4712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3CD0C-1DCC-5DCE-10C7-010573BF0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898DF-7FD7-D2AA-D648-DE52DE0273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D714C-C93A-4C8D-9EEE-2F80E75753E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1DF27-0E87-40FF-B766-7E8FB6B4F4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5F726-0B0B-545F-49B1-C7D3B539DB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0F6E36-CD20-484C-9F74-64239218F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334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4E6C4-1888-F88A-3D08-C22BA8C1F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12FAB50-64BB-BE17-E419-DAB79A783382}"/>
              </a:ext>
            </a:extLst>
          </p:cNvPr>
          <p:cNvGrpSpPr/>
          <p:nvPr/>
        </p:nvGrpSpPr>
        <p:grpSpPr>
          <a:xfrm>
            <a:off x="1287346" y="921632"/>
            <a:ext cx="8998839" cy="4048280"/>
            <a:chOff x="899887" y="712409"/>
            <a:chExt cx="8998839" cy="4048280"/>
          </a:xfrm>
        </p:grpSpPr>
        <p:graphicFrame>
          <p:nvGraphicFramePr>
            <p:cNvPr id="6" name="Chart 5">
              <a:extLst>
                <a:ext uri="{FF2B5EF4-FFF2-40B4-BE49-F238E27FC236}">
                  <a16:creationId xmlns:a16="http://schemas.microsoft.com/office/drawing/2014/main" id="{4B7E4E7A-2E38-5029-39B0-DAE8D280032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0414379"/>
                </p:ext>
              </p:extLst>
            </p:nvPr>
          </p:nvGraphicFramePr>
          <p:xfrm>
            <a:off x="899887" y="712409"/>
            <a:ext cx="4557486" cy="404827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3" name="Chart 2">
              <a:extLst>
                <a:ext uri="{FF2B5EF4-FFF2-40B4-BE49-F238E27FC236}">
                  <a16:creationId xmlns:a16="http://schemas.microsoft.com/office/drawing/2014/main" id="{E8083325-852E-6E95-5396-1421D38DB86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2317608"/>
                </p:ext>
              </p:extLst>
            </p:nvPr>
          </p:nvGraphicFramePr>
          <p:xfrm>
            <a:off x="5341240" y="712412"/>
            <a:ext cx="4557486" cy="404827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239888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66BEF-16DF-772B-FAF6-77096400D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A3F9F40-6021-5E99-50C0-7B259CB0C919}"/>
              </a:ext>
            </a:extLst>
          </p:cNvPr>
          <p:cNvGrpSpPr/>
          <p:nvPr/>
        </p:nvGrpSpPr>
        <p:grpSpPr>
          <a:xfrm>
            <a:off x="1287346" y="921632"/>
            <a:ext cx="8998839" cy="4048280"/>
            <a:chOff x="899887" y="712409"/>
            <a:chExt cx="8998839" cy="4048280"/>
          </a:xfrm>
        </p:grpSpPr>
        <p:graphicFrame>
          <p:nvGraphicFramePr>
            <p:cNvPr id="6" name="Chart 5">
              <a:extLst>
                <a:ext uri="{FF2B5EF4-FFF2-40B4-BE49-F238E27FC236}">
                  <a16:creationId xmlns:a16="http://schemas.microsoft.com/office/drawing/2014/main" id="{DDF07335-97D0-5F17-05A6-B9AF42FD84E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7068925"/>
                </p:ext>
              </p:extLst>
            </p:nvPr>
          </p:nvGraphicFramePr>
          <p:xfrm>
            <a:off x="899887" y="712409"/>
            <a:ext cx="4557486" cy="404827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3" name="Chart 2">
              <a:extLst>
                <a:ext uri="{FF2B5EF4-FFF2-40B4-BE49-F238E27FC236}">
                  <a16:creationId xmlns:a16="http://schemas.microsoft.com/office/drawing/2014/main" id="{40A5CCB9-5499-55C4-47B8-F3BC214F4C4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1687150"/>
                </p:ext>
              </p:extLst>
            </p:nvPr>
          </p:nvGraphicFramePr>
          <p:xfrm>
            <a:off x="5341240" y="712412"/>
            <a:ext cx="4557486" cy="404827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404328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27CC8-EBD3-93EB-35A2-B48274ACE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33C3DDB-0FDC-0B63-D464-9AAC54FC5096}"/>
              </a:ext>
            </a:extLst>
          </p:cNvPr>
          <p:cNvGrpSpPr/>
          <p:nvPr/>
        </p:nvGrpSpPr>
        <p:grpSpPr>
          <a:xfrm>
            <a:off x="1287346" y="921632"/>
            <a:ext cx="8998839" cy="4048280"/>
            <a:chOff x="899887" y="712409"/>
            <a:chExt cx="8998839" cy="4048280"/>
          </a:xfrm>
        </p:grpSpPr>
        <p:graphicFrame>
          <p:nvGraphicFramePr>
            <p:cNvPr id="6" name="Chart 5">
              <a:extLst>
                <a:ext uri="{FF2B5EF4-FFF2-40B4-BE49-F238E27FC236}">
                  <a16:creationId xmlns:a16="http://schemas.microsoft.com/office/drawing/2014/main" id="{6BEB5666-CF07-587F-62A5-36ABBA77348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7243893"/>
                </p:ext>
              </p:extLst>
            </p:nvPr>
          </p:nvGraphicFramePr>
          <p:xfrm>
            <a:off x="899887" y="712409"/>
            <a:ext cx="4557486" cy="404827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3" name="Chart 2">
              <a:extLst>
                <a:ext uri="{FF2B5EF4-FFF2-40B4-BE49-F238E27FC236}">
                  <a16:creationId xmlns:a16="http://schemas.microsoft.com/office/drawing/2014/main" id="{330EC154-0A0C-4518-3EFD-1071E383A8C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7944812"/>
                </p:ext>
              </p:extLst>
            </p:nvPr>
          </p:nvGraphicFramePr>
          <p:xfrm>
            <a:off x="5341240" y="712412"/>
            <a:ext cx="4557486" cy="404827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154141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5748</TotalTime>
  <Words>404</Words>
  <Application>Microsoft Office PowerPoint</Application>
  <PresentationFormat>Widescreen</PresentationFormat>
  <Paragraphs>27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Jim Larson</dc:creator>
  <cp:lastModifiedBy>Jim Larson</cp:lastModifiedBy>
  <cp:revision>11</cp:revision>
  <dcterms:created xsi:type="dcterms:W3CDTF">2026-03-31T21:44:43Z</dcterms:created>
  <dcterms:modified xsi:type="dcterms:W3CDTF">2026-04-13T22:07:29Z</dcterms:modified>
</cp:coreProperties>
</file>